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maheshwari R" userId="S::uma@edunetfoundation.org::5013a120-0240-46bd-a5d8-a54ab11ae5fe" providerId="AD" clId="Web-{34CBDC38-0F0C-EF0A-5169-FC033B4B9FA1}"/>
    <pc:docChg chg="modSld">
      <pc:chgData name="Umamaheshwari R" userId="S::uma@edunetfoundation.org::5013a120-0240-46bd-a5d8-a54ab11ae5fe" providerId="AD" clId="Web-{34CBDC38-0F0C-EF0A-5169-FC033B4B9FA1}" dt="2026-02-19T06:35:48.913" v="2" actId="20577"/>
      <pc:docMkLst>
        <pc:docMk/>
      </pc:docMkLst>
      <pc:sldChg chg="modSp">
        <pc:chgData name="Umamaheshwari R" userId="S::uma@edunetfoundation.org::5013a120-0240-46bd-a5d8-a54ab11ae5fe" providerId="AD" clId="Web-{34CBDC38-0F0C-EF0A-5169-FC033B4B9FA1}" dt="2026-02-19T06:35:48.913" v="2" actId="20577"/>
        <pc:sldMkLst>
          <pc:docMk/>
          <pc:sldMk cId="0" sldId="266"/>
        </pc:sldMkLst>
        <pc:spChg chg="mod">
          <ac:chgData name="Umamaheshwari R" userId="S::uma@edunetfoundation.org::5013a120-0240-46bd-a5d8-a54ab11ae5fe" providerId="AD" clId="Web-{34CBDC38-0F0C-EF0A-5169-FC033B4B9FA1}" dt="2026-02-19T06:35:48.913" v="2" actId="20577"/>
          <ac:spMkLst>
            <pc:docMk/>
            <pc:sldMk cId="0" sldId="26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914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LinkedIn  </a:t>
            </a:r>
            <a:r>
              <a:rPr lang="en-US" sz="95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0"/>
            <a:ext cx="50292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3108960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3291840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347472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EchoLens</a:t>
            </a:r>
            <a:endParaRPr lang="en-US" sz="3800"/>
          </a:p>
          <a:p>
            <a:pPr marL="0" indent="0">
              <a:buNone/>
            </a:pPr>
            <a:r>
              <a:rPr lang="en-US" sz="16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Faculty Feedback Intelligence</a:t>
            </a:r>
            <a:endParaRPr lang="en-US" sz="380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2578608"/>
            <a:ext cx="27432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👤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77724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Parul [Last Name]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28346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✉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29184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[your.email@marwadiuniversity.ac.in]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277722" y="4384041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722" y="4393185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📖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82333" y="447886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[Mentor Name]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BA53C9D-AAA2-05C7-14B1-F7DA481CA53F}"/>
              </a:ext>
            </a:extLst>
          </p:cNvPr>
          <p:cNvSpPr/>
          <p:nvPr/>
        </p:nvSpPr>
        <p:spPr>
          <a:xfrm>
            <a:off x="457200" y="1284468"/>
            <a:ext cx="4114800" cy="302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pipeline turning raw student feedback into faculty-specific insights.</a:t>
            </a:r>
            <a:endParaRPr lang="en-US" sz="130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BB90A13-7196-D2E6-20B4-845F03152899}"/>
              </a:ext>
            </a:extLst>
          </p:cNvPr>
          <p:cNvSpPr/>
          <p:nvPr/>
        </p:nvSpPr>
        <p:spPr>
          <a:xfrm>
            <a:off x="457200" y="166420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Tackles a real business problem: 70-80% of qualitative feedback goes unused.</a:t>
            </a:r>
            <a:endParaRPr lang="en-US" sz="13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BCD0967-8763-EBD0-918B-8930803EE40C}"/>
              </a:ext>
            </a:extLst>
          </p:cNvPr>
          <p:cNvSpPr/>
          <p:nvPr/>
        </p:nvSpPr>
        <p:spPr>
          <a:xfrm>
            <a:off x="457200" y="20939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Excel, Power BI, and Microsoft Copilot / AI Chatbot - all low-code.</a:t>
            </a:r>
            <a:endParaRPr lang="en-US" sz="130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079AF38-4D82-61EA-A6DE-714C1225E65B}"/>
              </a:ext>
            </a:extLst>
          </p:cNvPr>
          <p:cNvSpPr/>
          <p:nvPr/>
        </p:nvSpPr>
        <p:spPr>
          <a:xfrm>
            <a:off x="457200" y="25237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85% faster turnaround, ~70% less manual effort, ~60% more insights.</a:t>
            </a:r>
            <a:endParaRPr lang="en-US" sz="130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42052B7-1005-7C95-89EC-CBD8D61EEAEE}"/>
              </a:ext>
            </a:extLst>
          </p:cNvPr>
          <p:cNvSpPr/>
          <p:nvPr/>
        </p:nvSpPr>
        <p:spPr>
          <a:xfrm>
            <a:off x="457200" y="295351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audit-ready: every insight traceable - ideal for NAAC / NBA evidence.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3444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operational efficiency: QA teams lose 40-50% of hours to manual reading.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57200" y="166420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faculty productivity: insights arrive 12-15 days late, missing the cohort.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57200" y="20939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evidence verification: hard to link actions to feedback for audits.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57200" y="25237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gap: Excel cannot read sentiment; NLP tools need coding skills.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457200" y="295351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faculty, HoDs, coordinators, IQAC, Deans, and 500+ students each semester.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1B3A8A"/>
                </a:solidFill>
                <a:latin typeface="Calibri" pitchFamily="34" charset="0"/>
              </a:rPr>
              <a:t>A 3-layer low-code pipeline:</a:t>
            </a:r>
            <a:endParaRPr lang="en-US" sz="13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alibri" pitchFamily="34" charset="0"/>
              </a:rPr>
              <a:t>1. Clean &amp; Structure (Excel + Power Query)</a:t>
            </a:r>
            <a:endParaRPr lang="en-US" sz="1200"/>
          </a:p>
          <a:p>
            <a:pPr marL="0" indent="0"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</a:rPr>
              <a:t>Auto-anonymise PII, normalise 1-5 ratings, remove duplicates.</a:t>
            </a:r>
            <a:endParaRPr lang="en-US" sz="1100"/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alibri" pitchFamily="34" charset="0"/>
              </a:rPr>
              <a:t>2. Interpret (Copilot / AI Chatbot)</a:t>
            </a:r>
            <a:endParaRPr lang="en-US" sz="1200"/>
          </a:p>
          <a:p>
            <a:pPr marL="0" indent="0"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</a:rPr>
              <a:t>Prompt-driven sentiment scoring, theme extraction, and teaching-improvement recommendations per faculty.</a:t>
            </a:r>
            <a:endParaRPr lang="en-US" sz="1100"/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alibri" pitchFamily="34" charset="0"/>
              </a:rPr>
              <a:t>3. Visualise &amp; Decide (Power BI)</a:t>
            </a:r>
            <a:endParaRPr lang="en-US" sz="1200"/>
          </a:p>
          <a:p>
            <a:pPr marL="0" indent="0"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</a:rPr>
              <a:t>Interactive dashboard with KPI cards, sentiment trends, and drill-down by course / faculty.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607D8B"/>
                </a:solidFill>
                <a:latin typeface="Calibri" pitchFamily="34" charset="0"/>
              </a:rPr>
              <a:t>BUSINESS OUTCOMES</a:t>
            </a:r>
            <a:endParaRPr lang="en-US" sz="1100"/>
          </a:p>
          <a:p>
            <a:pPr marL="0" indent="0" algn="ctr">
              <a:buNone/>
            </a:pPr>
            <a:endParaRPr lang="en-US" sz="400"/>
          </a:p>
          <a:p>
            <a:pPr marL="0" indent="0" algn="ctr">
              <a:buNone/>
            </a:pPr>
            <a:r>
              <a:rPr lang="en-US" sz="4800" b="1">
                <a:solidFill>
                  <a:srgbClr val="1B3A8A"/>
                </a:solidFill>
                <a:latin typeface="Calibri" pitchFamily="34" charset="0"/>
              </a:rPr>
              <a:t>85%</a:t>
            </a:r>
            <a:endParaRPr lang="en-US" sz="4800"/>
          </a:p>
          <a:p>
            <a:pPr marL="0" indent="0" algn="ctr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faster feedback turnaround</a:t>
            </a:r>
            <a:endParaRPr lang="en-US" sz="1200"/>
          </a:p>
          <a:p>
            <a:pPr marL="0" indent="0" algn="ctr">
              <a:buNone/>
            </a:pPr>
            <a:r>
              <a:rPr lang="en-US" sz="1000">
                <a:solidFill>
                  <a:srgbClr val="607D8B"/>
                </a:solidFill>
                <a:latin typeface="Calibri" pitchFamily="34" charset="0"/>
              </a:rPr>
              <a:t>(15 days → 2 days)</a:t>
            </a:r>
            <a:endParaRPr lang="en-US" sz="1000"/>
          </a:p>
          <a:p>
            <a:pPr marL="0" indent="0" algn="ctr">
              <a:buNone/>
            </a:pPr>
            <a:endParaRPr lang="en-US" sz="800"/>
          </a:p>
          <a:p>
            <a:pPr marL="0" indent="0" algn="ctr">
              <a:buNone/>
            </a:pPr>
            <a:r>
              <a:rPr lang="en-US" sz="1600" b="1">
                <a:solidFill>
                  <a:srgbClr val="1565C0"/>
                </a:solidFill>
                <a:latin typeface="Calibri" pitchFamily="34" charset="0"/>
              </a:rPr>
              <a:t>~70% less manual effort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1565C0"/>
                </a:solidFill>
                <a:latin typeface="Calibri" pitchFamily="34" charset="0"/>
              </a:rPr>
              <a:t>~60% more insights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1565C0"/>
                </a:solidFill>
                <a:latin typeface="Calibri" pitchFamily="34" charset="0"/>
              </a:rPr>
              <a:t>100% audit-ready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End-of-semester student feedback CSV (ratings 1-5 + open-ended comments) from Google Forms / institutional LMS exports. Kaggle-sourced sample data used for prototype.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Analysis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Power Query auto-cleans duplicates, masks PII (names / IDs), normalises rating scales, and builds pivot tables for per-course and per-faculty aggregates.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 Integration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/ AI Chatbot receives anonymised comment batches via a structured prompt library - returns sentiment labels, themes, and faculty-specific improvement actions.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with KPI cards (avg rating, sentiment index, response rate), trend lines, theme word-cloud, and course / faculty drill-down - plus exportable action reports.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978408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showing anonymised records, normalised ratings, and sentiment-tagged comments - ready for analysis in under 10 minutes.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922776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3218688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355848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KPI cards, sentiment trends by course, faculty comparisons, and theme heatmaps - filterable by semester and department.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867144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9" name="Shape 17"/>
          <p:cNvSpPr/>
          <p:nvPr/>
        </p:nvSpPr>
        <p:spPr>
          <a:xfrm>
            <a:off x="6163056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 Report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300216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Copilot-generated per-faculty improvement report: top 3 strengths, top 3 concerns, and 2-week corrective actions - traceable to source feedback rows.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your YouTube / Drive demo link here]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>
                <a:solidFill>
                  <a:srgbClr val="FFFFFF"/>
                </a:solidFill>
              </a:rPr>
              <a:t>▶</a:t>
            </a:r>
            <a:endParaRPr lang="en-US" sz="480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raw CSV → cleaned data →</a:t>
            </a:r>
            <a:endParaRPr lang="en-US" sz="1100"/>
          </a:p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insights → Power BI dashboard.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</a:rPr>
              <a:t xml:space="preserve">EchoLens converts unused qualitative feedback into a decision-ready pipeline. </a:t>
            </a:r>
            <a:endParaRPr lang="en-US" sz="1300"/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200" b="1">
                <a:solidFill>
                  <a:srgbClr val="1B3A8A"/>
                </a:solidFill>
                <a:latin typeface="Calibri" pitchFamily="34" charset="0"/>
              </a:rPr>
              <a:t>Measured impact on the prototype dataset: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• Turnaround cut from 15 days to 2 days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• Manual coding effort reduced ~70%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• Actionable themes per course up ~60%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• 100% of insights traceable to source rows</a:t>
            </a:r>
            <a:endParaRPr lang="en-US" sz="1200"/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All fellowship objectives met: a reusable, low-code framework that scales across departments and semesters.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05840"/>
            <a:ext cx="2834640" cy="2834640"/>
          </a:xfrm>
          <a:prstGeom prst="ellipse">
            <a:avLst/>
          </a:prstGeom>
          <a:solidFill>
            <a:srgbClr val="1B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005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>
                <a:solidFill>
                  <a:srgbClr val="000000"/>
                </a:solidFill>
              </a:rPr>
              <a:t>✅</a:t>
            </a:r>
            <a:endParaRPr lang="en-US" sz="6000"/>
          </a:p>
        </p:txBody>
      </p:sp>
      <p:sp>
        <p:nvSpPr>
          <p:cNvPr id="18" name="Shape 16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B3A8A"/>
                </a:solidFill>
                <a:latin typeface="Calibri" pitchFamily="34" charset="0"/>
              </a:rPr>
              <a:t>Near-term (3-6 months)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• Direct Google Form / LMS API integration to remove manual CSV export.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• Multilingual support for Hindi, Gujarati, and regional responses.</a:t>
            </a:r>
            <a:endParaRPr lang="en-US" sz="1200"/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200" b="1">
                <a:solidFill>
                  <a:srgbClr val="1B3A8A"/>
                </a:solidFill>
                <a:latin typeface="Calibri" pitchFamily="34" charset="0"/>
              </a:rPr>
              <a:t>Medium-term (6-12 months)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• Predictive early-warning model flagging at-risk courses mid-semester.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• NAAC / NBA evidence pack auto-generation for accreditation cycles.</a:t>
            </a:r>
            <a:endParaRPr lang="en-US" sz="1200"/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200" b="1">
                <a:solidFill>
                  <a:srgbClr val="1B3A8A"/>
                </a:solidFill>
                <a:latin typeface="Calibri" pitchFamily="34" charset="0"/>
              </a:rPr>
              <a:t>Long-term (1 year+)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</a:rPr>
              <a:t>• Institution-wide rollout with role-based Power BI workspaces for HoDs, Deans, and IQAC.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>
                <a:solidFill>
                  <a:srgbClr val="000000"/>
                </a:solidFill>
              </a:rPr>
              <a:t>🧠</a:t>
            </a:r>
            <a:endParaRPr lang="en-US" sz="1000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from prototype to institution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6305973" y="45720"/>
            <a:ext cx="27465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Student Project Presentation 2026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 xml:space="preserve">  LinkedIn  |   Edunet Foundation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revision>1</cp:revision>
  <dcterms:created xsi:type="dcterms:W3CDTF">2026-02-18T09:17:23Z</dcterms:created>
  <dcterms:modified xsi:type="dcterms:W3CDTF">2026-02-19T06:36:05Z</dcterms:modified>
</cp:coreProperties>
</file>